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766560"/>
            <a:ext cx="12191695" cy="9144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7EC8A4"/>
                </a:solidFill>
                <a:latin typeface="Calibri"/>
              </a:rPr>
              <a:t>SARVAM AI  ·  PRE-SALES ASSIGNMENT  ·  SOLUTION 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AI Voice Support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7EC8A4"/>
                </a:solidFill>
                <a:latin typeface="Calibri"/>
              </a:rPr>
              <a:t>Multilingual Customer Support for Airtel — Powered by Sarvam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29000"/>
            <a:ext cx="4572000" cy="27432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717D8A"/>
                </a:solidFill>
                <a:latin typeface="Calibri"/>
              </a:rPr>
              <a:t>Use Case: D2C Customer Support  ·  Voice Bot + Agentic Workflow  ·  Hindi &amp;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Neerav Mahadevan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717D8A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A8C4E0"/>
                </a:solidFill>
                <a:latin typeface="Calibri"/>
              </a:rPr>
              <a:t>India's telecom support infrastructure is failing customers at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4206240" cy="5806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1325880"/>
            <a:ext cx="3886200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1463040"/>
            <a:ext cx="3886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F5A623"/>
                </a:solidFill>
                <a:latin typeface="Calibri"/>
              </a:rPr>
              <a:t>950K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965960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inbound support calls per day
(Airtel, all channels)</a:t>
            </a:r>
            <a:br/>
            <a:r>
              <a:t>(Airtel, all channels)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2423160"/>
            <a:ext cx="3886200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2560320"/>
            <a:ext cx="3886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F5A623"/>
                </a:solidFill>
                <a:latin typeface="Calibri"/>
              </a:rPr>
              <a:t>₹28–35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" y="3063240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cost per human agent
interaction</a:t>
            </a:r>
            <a:br/>
            <a:r>
              <a:t>interaction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3520440"/>
            <a:ext cx="3886200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" y="3657600"/>
            <a:ext cx="3886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F5A623"/>
                </a:solidFill>
                <a:latin typeface="Calibri"/>
              </a:rPr>
              <a:t>8–12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4160520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average customer wait time
during peak hours</a:t>
            </a:r>
            <a:br/>
            <a:r>
              <a:t>during peak hours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" y="4617720"/>
            <a:ext cx="3886200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" y="4754880"/>
            <a:ext cx="3886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F5A623"/>
                </a:solidFill>
                <a:latin typeface="Calibri"/>
              </a:rPr>
              <a:t>71%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" y="5257800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of customers abandon DTMF IVR
before resolution  (TRAI 2024)</a:t>
            </a:r>
            <a:br/>
            <a:r>
              <a:t>before resolution  (TRAI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0D1B3E"/>
                </a:solidFill>
                <a:latin typeface="Calibri"/>
              </a:rPr>
              <a:t>Four compounding pain 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1691640"/>
            <a:ext cx="54864" cy="96012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691640"/>
            <a:ext cx="7223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0D1B3E"/>
                </a:solidFill>
                <a:latin typeface="Calibri"/>
              </a:rPr>
              <a:t>Language Barrier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965960"/>
            <a:ext cx="7178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717D8A"/>
                </a:solidFill>
                <a:latin typeface="Calibri"/>
              </a:rPr>
              <a:t>68% of subscribers prefer regional languages. Most IVR systems offer Hindi/English only, failing Tier-2 and Tier-3 customers entirely.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2880360"/>
            <a:ext cx="54864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880360"/>
            <a:ext cx="7223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0D1B3E"/>
                </a:solidFill>
                <a:latin typeface="Calibri"/>
              </a:rPr>
              <a:t>24/7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154680"/>
            <a:ext cx="7178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717D8A"/>
                </a:solidFill>
                <a:latin typeface="Calibri"/>
              </a:rPr>
              <a:t>Call centres are staffed ~18 hours/day. Customers with billing disputes or outages at 2 AM have zero recourse.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4069080"/>
            <a:ext cx="54864" cy="960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069080"/>
            <a:ext cx="7223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0D1B3E"/>
                </a:solidFill>
                <a:latin typeface="Calibri"/>
              </a:rPr>
              <a:t>Repetition Fatigue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343400"/>
            <a:ext cx="7178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717D8A"/>
                </a:solidFill>
                <a:latin typeface="Calibri"/>
              </a:rPr>
              <a:t>Average customer repeats their query 2.3× due to misrouting and poor NLU in legacy IVR.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5257800"/>
            <a:ext cx="54864" cy="960120"/>
          </a:xfrm>
          <a:prstGeom prst="rect">
            <a:avLst/>
          </a:prstGeom>
          <a:solidFill>
            <a:srgbClr val="E5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5257800"/>
            <a:ext cx="7223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0D1B3E"/>
                </a:solidFill>
                <a:latin typeface="Calibri"/>
              </a:rPr>
              <a:t>Cost Trajectory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532120"/>
            <a:ext cx="7178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717D8A"/>
                </a:solidFill>
                <a:latin typeface="Calibri"/>
              </a:rPr>
              <a:t>With 485M subscribers, even a 1% increase in call volume adds ₹130 crore/year in agent costs — unsustainable.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Why Voice 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A8C4E0"/>
                </a:solidFill>
                <a:latin typeface="Calibri"/>
              </a:rPr>
              <a:t>Voice is the natural interface for India's next 300 million connected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1143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37490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F5A623"/>
                </a:solidFill>
                <a:latin typeface="Calibri"/>
              </a:rPr>
              <a:t>500M+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28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Indians use voice search
on mobile  (Google India 2024)</a:t>
            </a:r>
            <a:br/>
            <a:r>
              <a:t>on mobile  (Google India 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88720"/>
            <a:ext cx="3749039" cy="114300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325880"/>
            <a:ext cx="37490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F5A623"/>
                </a:solidFill>
                <a:latin typeface="Calibri"/>
              </a:rPr>
              <a:t>62%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1828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of Tier-2/3 first-time internet users
prefer voice over typing</a:t>
            </a:r>
            <a:br/>
            <a:r>
              <a:t>prefer voice over typing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8" y="1188720"/>
            <a:ext cx="3749039" cy="1143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8" y="1325880"/>
            <a:ext cx="37490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F5A623"/>
                </a:solidFill>
                <a:latin typeface="Calibri"/>
              </a:rPr>
              <a:t>78%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8" y="1828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of Airtel Tier-1 queries are fully
resolvable without a human agent</a:t>
            </a:r>
            <a:br/>
            <a:r>
              <a:t>resolvable without a human 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60320"/>
            <a:ext cx="5577840" cy="402336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560320"/>
            <a:ext cx="5577840" cy="347472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596896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Who Is the End User?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99232"/>
            <a:ext cx="5212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50">
                <a:solidFill>
                  <a:srgbClr val="1A202C"/>
                </a:solidFill>
                <a:latin typeface="Calibri"/>
              </a:rPr>
              <a:t>→  Airtel subscriber in a Tier-2 or Tier-3 city — comfortable speaking, not typing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1A202C"/>
                </a:solidFill>
                <a:latin typeface="Calibri"/>
              </a:rPr>
              <a:t>→  First-generation smartphone user; finds app navigation and text-based chat unfamiliar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1A202C"/>
                </a:solidFill>
                <a:latin typeface="Calibri"/>
              </a:rPr>
              <a:t>→  Speaks Hindi, Hinglish, or a regional language — not pure English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1A202C"/>
                </a:solidFill>
                <a:latin typeface="Calibri"/>
              </a:rPr>
              <a:t>→  High intent to self-serve but low tolerance for hold music and DTMF menus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1A202C"/>
                </a:solidFill>
                <a:latin typeface="Calibri"/>
              </a:rPr>
              <a:t>→  Voice is not just a preference — for this segment, it is the only viable interface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560320"/>
            <a:ext cx="5833872" cy="4023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2560320"/>
            <a:ext cx="5833872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596896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AI Voice Bot vs. Status Quo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99008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0D1B3E"/>
                </a:solidFill>
                <a:latin typeface="Calibri"/>
              </a:rPr>
              <a:t>Metric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99008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C0392B"/>
                </a:solidFill>
                <a:latin typeface="Calibri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99008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008B5A"/>
                </a:solidFill>
                <a:latin typeface="Calibri"/>
              </a:rPr>
              <a:t>With AI Voice Bot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310128"/>
            <a:ext cx="583387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374136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Wait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374136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C0392B"/>
                </a:solidFill>
                <a:latin typeface="Calibri"/>
              </a:rPr>
              <a:t>8–12 min on 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374136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008B5A"/>
                </a:solidFill>
                <a:latin typeface="Calibri"/>
              </a:rPr>
              <a:t>&lt; 3 seconds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3749040"/>
            <a:ext cx="583387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81304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Availability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81304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C0392B"/>
                </a:solidFill>
                <a:latin typeface="Calibri"/>
              </a:rPr>
              <a:t>6 AM – 12 AM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81304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008B5A"/>
                </a:solidFill>
                <a:latin typeface="Calibri"/>
              </a:rPr>
              <a:t>24 / 7 / 365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4187952"/>
            <a:ext cx="583387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25196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Languages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25196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C0392B"/>
                </a:solidFill>
                <a:latin typeface="Calibri"/>
              </a:rPr>
              <a:t>Hindi + English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251960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008B5A"/>
                </a:solidFill>
                <a:latin typeface="Calibri"/>
              </a:rPr>
              <a:t>Hindi, English, Hinglish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626864"/>
            <a:ext cx="583387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4690872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Cost per 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4690872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C0392B"/>
                </a:solidFill>
                <a:latin typeface="Calibri"/>
              </a:rPr>
              <a:t>₹28–35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4690872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008B5A"/>
                </a:solidFill>
                <a:latin typeface="Calibri"/>
              </a:rPr>
              <a:t>₹0.40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5065776"/>
            <a:ext cx="583387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5129784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Consistency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5129784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C0392B"/>
                </a:solidFill>
                <a:latin typeface="Calibri"/>
              </a:rPr>
              <a:t>Variable (human error)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129784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008B5A"/>
                </a:solidFill>
                <a:latin typeface="Calibri"/>
              </a:rPr>
              <a:t>100% script adherence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5504688"/>
            <a:ext cx="583387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5568696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Scale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2440" y="5568696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C0392B"/>
                </a:solidFill>
                <a:latin typeface="Calibri"/>
              </a:rPr>
              <a:t>Staffing-constrained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5568696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008B5A"/>
                </a:solidFill>
                <a:latin typeface="Calibri"/>
              </a:rPr>
              <a:t>Unlimited, zero incremental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Why Sarvam 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A8C4E0"/>
                </a:solidFill>
                <a:latin typeface="Calibri"/>
              </a:rPr>
              <a:t>The only AI stack purpose-built for India's languages, regulation, and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D1B3E"/>
                </a:solidFill>
                <a:latin typeface="Calibri"/>
              </a:rPr>
              <a:t>Head-to-Head: Sarvam AI vs Generic Alternatives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81328"/>
            <a:ext cx="260604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17904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481328"/>
            <a:ext cx="2606040" cy="34747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517904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Google Cloud STT / Vertex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481328"/>
            <a:ext cx="2606040" cy="34747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25312" y="1517904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AWS Transcribe / Bedrock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481328"/>
            <a:ext cx="2606040" cy="347472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517904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Sarvam AI  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56231"/>
            <a:ext cx="11640312" cy="37490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1911095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Hindi-English code-mixing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1911095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Partial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1911095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Limited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1911095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008B5A"/>
                </a:solidFill>
                <a:latin typeface="Calibri"/>
              </a:rPr>
              <a:t>Native (trained on Hinglish)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49423"/>
            <a:ext cx="1164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304287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Indian accent optimisation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3552" y="2304287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Partial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5312" y="2304287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Partial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2304287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008B5A"/>
                </a:solidFill>
                <a:latin typeface="Calibri"/>
              </a:rPr>
              <a:t>✓ Trained on 500M+ Indian voices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642615"/>
            <a:ext cx="11640312" cy="37490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697479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STT latency (India)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2" y="2697479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800–1,200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2697479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900–1,400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2697479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008B5A"/>
                </a:solidFill>
                <a:latin typeface="Calibri"/>
              </a:rPr>
              <a:t>≤ 300 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035807"/>
            <a:ext cx="1164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090671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LLM (Indian language)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73552" y="3090671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Gemini (generic)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25312" y="3090671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Titan (generic)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3090671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008B5A"/>
                </a:solidFill>
                <a:latin typeface="Calibri"/>
              </a:rPr>
              <a:t>sarvam-105b (India-first reasoning)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428999"/>
            <a:ext cx="11640312" cy="37490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483863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Data sovereignty / TRAI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73552" y="3483863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US servers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5312" y="3483863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US servers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7072" y="3483863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008B5A"/>
                </a:solidFill>
                <a:latin typeface="Calibri"/>
              </a:rPr>
              <a:t>✓ In-country processing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822191"/>
            <a:ext cx="1164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3877055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On-premise 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73552" y="3877055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5312" y="3877055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77072" y="3877055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008B5A"/>
                </a:solidFill>
                <a:latin typeface="Calibri"/>
              </a:rPr>
              <a:t>✓ Private cloud / on-prem available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215383"/>
            <a:ext cx="11640312" cy="37490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4270247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Indian language breadth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73552" y="4270247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8 languages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25312" y="4270247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6 languages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7072" y="4270247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008B5A"/>
                </a:solidFill>
                <a:latin typeface="Calibri"/>
              </a:rPr>
              <a:t>22+ Indian languages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608575"/>
            <a:ext cx="11640312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4663439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Cost per minute (STT)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73552" y="4663439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$0.006 (~₹0.50)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25312" y="4663439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C0392B"/>
                </a:solidFill>
                <a:latin typeface="Calibri"/>
              </a:rPr>
              <a:t>$0.007 (~₹0.58)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77072" y="4663439"/>
            <a:ext cx="24963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008B5A"/>
                </a:solidFill>
                <a:latin typeface="Calibri"/>
              </a:rPr>
              <a:t>₹0.18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157216"/>
            <a:ext cx="11640312" cy="45720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212080"/>
            <a:ext cx="11338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0D1B3E"/>
                </a:solidFill>
                <a:latin typeface="Calibri"/>
              </a:rPr>
              <a:t>For Airtel: TRAI compliance + on-premise deployment + Hinglish code-mixing is a non-negotiable stack — only Sarvam delivers all three natively.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Sarvam AI — Enterprise Proof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A8C4E0"/>
                </a:solidFill>
                <a:latin typeface="Calibri"/>
              </a:rPr>
              <a:t>Deployed at scale across BFSI, Government, and Service industries — ordered by relevance to enterprise customer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170432"/>
            <a:ext cx="2221992" cy="5440680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170432"/>
            <a:ext cx="2221992" cy="54864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307592"/>
            <a:ext cx="2039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7EC8A4"/>
                </a:solidFill>
                <a:latin typeface="Calibri"/>
              </a:rPr>
              <a:t>BFSI · Insurance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517904"/>
            <a:ext cx="2039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SBI Life Insurance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1993392"/>
            <a:ext cx="1993392" cy="2286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2066544"/>
            <a:ext cx="2039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5A623"/>
                </a:solidFill>
                <a:latin typeface="Calibri"/>
              </a:rPr>
              <a:t>Millions of
policy calls automated</a:t>
            </a:r>
            <a:br/>
            <a:r>
              <a:t>policy calls automated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2743200"/>
            <a:ext cx="20391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C5D5E8"/>
                </a:solidFill>
                <a:latin typeface="Calibri"/>
              </a:rPr>
              <a:t>AI voice agents handle policy inquiries, renewal reminders, and claims status in 10+ Indian languages — 24/7, at a fraction of human agent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2888" y="1170432"/>
            <a:ext cx="2221992" cy="5440680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32888" y="1170432"/>
            <a:ext cx="2221992" cy="54864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42616" y="1307592"/>
            <a:ext cx="2039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7EC8A4"/>
                </a:solidFill>
                <a:latin typeface="Calibri"/>
              </a:rPr>
              <a:t>BFSI · Consumer Lending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2616" y="1517904"/>
            <a:ext cx="2039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Tata Capital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42616" y="1993392"/>
            <a:ext cx="1993392" cy="2286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42616" y="2066544"/>
            <a:ext cx="2039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5A623"/>
                </a:solidFill>
                <a:latin typeface="Calibri"/>
              </a:rPr>
              <a:t>3× increase in
customer engagement</a:t>
            </a:r>
            <a:br/>
            <a:r>
              <a:t>customer engagement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2616" y="2743200"/>
            <a:ext cx="20391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C5D5E8"/>
                </a:solidFill>
                <a:latin typeface="Calibri"/>
              </a:rPr>
              <a:t>Multilingual voice agents deployed across consumer loan products — personalised, segment-specific conversations that break language barriers at scale.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4608" y="1170432"/>
            <a:ext cx="2221992" cy="5440680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64608" y="1170432"/>
            <a:ext cx="2221992" cy="54864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4336" y="1307592"/>
            <a:ext cx="2039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7EC8A4"/>
                </a:solidFill>
                <a:latin typeface="Calibri"/>
              </a:rPr>
              <a:t>BFSI · Rural 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4336" y="1517904"/>
            <a:ext cx="2039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Mahindra Finance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74336" y="1993392"/>
            <a:ext cx="1993392" cy="2286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4336" y="2066544"/>
            <a:ext cx="2039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5A623"/>
                </a:solidFill>
                <a:latin typeface="Calibri"/>
              </a:rPr>
              <a:t>Rural-first
voice collections</a:t>
            </a:r>
            <a:br/>
            <a:r>
              <a:t>voice collections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74336" y="2743200"/>
            <a:ext cx="20391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C5D5E8"/>
                </a:solidFill>
                <a:latin typeface="Calibri"/>
              </a:rPr>
              <a:t>Multilingual EMI reminder and collections agent reaching farmers and rural borrowers in their native language — populations previously unreachable via text or app.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96328" y="1170432"/>
            <a:ext cx="2221992" cy="5440680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96328" y="1170432"/>
            <a:ext cx="2221992" cy="54864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06056" y="1307592"/>
            <a:ext cx="2039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7EC8A4"/>
                </a:solidFill>
                <a:latin typeface="Calibri"/>
              </a:rPr>
              <a:t>D2C · On-demand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6056" y="1517904"/>
            <a:ext cx="2039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Urban Company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06056" y="1993392"/>
            <a:ext cx="1993392" cy="2286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06056" y="2066544"/>
            <a:ext cx="2039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5A623"/>
                </a:solidFill>
                <a:latin typeface="Calibri"/>
              </a:rPr>
              <a:t>Post-service
voice follow-up</a:t>
            </a:r>
            <a:br/>
            <a:r>
              <a:t>voice follow-up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06056" y="2743200"/>
            <a:ext cx="20391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C5D5E8"/>
                </a:solidFill>
                <a:latin typeface="Calibri"/>
              </a:rPr>
              <a:t>Automated voice-first customer feedback and support resolution in Hindi and English — reducing manual callback queues for service quality escalations.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28048" y="1170432"/>
            <a:ext cx="2221992" cy="5440680"/>
          </a:xfrm>
          <a:prstGeom prst="rect">
            <a:avLst/>
          </a:prstGeom>
          <a:solidFill>
            <a:srgbClr val="142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28048" y="1170432"/>
            <a:ext cx="2221992" cy="54864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37776" y="1307592"/>
            <a:ext cx="2039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7EC8A4"/>
                </a:solidFill>
                <a:latin typeface="Calibri"/>
              </a:rPr>
              <a:t>Government · Public Sector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517904"/>
            <a:ext cx="2039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Skill India / NABARD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37776" y="1993392"/>
            <a:ext cx="1993392" cy="2286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37776" y="2066544"/>
            <a:ext cx="20391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5A623"/>
                </a:solidFill>
                <a:latin typeface="Calibri"/>
              </a:rPr>
              <a:t>50,000+ farmer
feedback calls</a:t>
            </a:r>
            <a:br/>
            <a:r>
              <a:t>feedback calls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2743200"/>
            <a:ext cx="20391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C5D5E8"/>
                </a:solidFill>
                <a:latin typeface="Calibri"/>
              </a:rPr>
              <a:t>Conversational AI collecting structured citizen feedback for Farmer Field School programmes in Maharashtra — government-scale reach in regional languages.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83680"/>
            <a:ext cx="117344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D4EDDA"/>
                </a:solidFill>
                <a:latin typeface="Calibri"/>
              </a:rPr>
              <a:t>Sources: Sarvam.ai (2025–26)  ·  Tata Capital CDO testimonial  ·  Skill India / NABARD programme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A8C4E0"/>
                </a:solidFill>
                <a:latin typeface="Calibri"/>
              </a:rPr>
              <a:t>Full-stack A+B solution: Voice Bot + Agentic Escalation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2148840" cy="1828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35331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353312"/>
            <a:ext cx="320040" cy="27432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35331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008B5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1664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Customer
Browser</a:t>
            </a:r>
            <a:br/>
            <a:r>
              <a:t>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2194560"/>
            <a:ext cx="2039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BBCCDD"/>
                </a:solidFill>
                <a:latin typeface="Calibri"/>
              </a:rPr>
              <a:t>React UI
WebRTC mic capture
Audio → base64</a:t>
            </a:r>
            <a:br/>
            <a:r>
              <a:t>WebRTC mic capture</a:t>
            </a:r>
            <a:br/>
            <a:r>
              <a:t>Audio → base64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12140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0" i="0">
                <a:solidFill>
                  <a:srgbClr val="008B5A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280160"/>
            <a:ext cx="2148840" cy="182880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35331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0D1B3E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33472" y="1353312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35331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0D1B3E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1664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Sarvam
Saaras v3 STT</a:t>
            </a:r>
            <a:br/>
            <a:r>
              <a:t>Saaras v3 STT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2194560"/>
            <a:ext cx="2039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BBCCDD"/>
                </a:solidFill>
                <a:latin typeface="Calibri"/>
              </a:rPr>
              <a:t>Hindi / English
auto-detection
≤ 300 ms latency</a:t>
            </a:r>
            <a:br/>
            <a:r>
              <a:t>auto-detection</a:t>
            </a:r>
            <a:br/>
            <a:r>
              <a:t>≤ 300 ms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12140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0" i="0">
                <a:solidFill>
                  <a:srgbClr val="008B5A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1280160"/>
            <a:ext cx="2148840" cy="1828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135331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10912" y="1353312"/>
            <a:ext cx="320040" cy="27432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135331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008B5A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1664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RAG + Sarvam
sarvam-105b LLM</a:t>
            </a:r>
            <a:br/>
            <a:r>
              <a:t>sarvam-105b 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2194560"/>
            <a:ext cx="2039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BBCCDD"/>
                </a:solidFill>
                <a:latin typeface="Calibri"/>
              </a:rPr>
              <a:t>ChromaDB retrieval
over 21 Airtel KB docs
1–2 sec response</a:t>
            </a:r>
            <a:br/>
            <a:r>
              <a:t>over 21 Airtel KB docs</a:t>
            </a:r>
            <a:br/>
            <a:r>
              <a:t>1–2 sec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212140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0" i="0">
                <a:solidFill>
                  <a:srgbClr val="008B5A"/>
                </a:solidFill>
                <a:latin typeface="Calibr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1280160"/>
            <a:ext cx="2148840" cy="182880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8352" y="135331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0D1B3E"/>
                </a:solidFill>
                <a:latin typeface="Calibri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88352" y="1353312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135331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0D1B3E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1664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Sarvam
Bulbul v3 TTS</a:t>
            </a:r>
            <a:br/>
            <a:r>
              <a:t>Bulbul v3 TTS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2194560"/>
            <a:ext cx="2039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BBCCDD"/>
                </a:solidFill>
                <a:latin typeface="Calibri"/>
              </a:rPr>
              <a:t>Natural Indian voice
37+ speakers
8kHz telephony output</a:t>
            </a:r>
            <a:br/>
            <a:r>
              <a:t>37+ speakers</a:t>
            </a:r>
            <a:br/>
            <a:r>
              <a:t>8kHz telephony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1472" y="2121408"/>
            <a:ext cx="228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400" b="0" i="0">
                <a:solidFill>
                  <a:srgbClr val="008B5A"/>
                </a:solidFill>
                <a:latin typeface="Calibri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0" y="1280160"/>
            <a:ext cx="2148840" cy="182880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65792" y="135331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0D1B3E"/>
                </a:solidFill>
                <a:latin typeface="Calibri"/>
              </a:rPr>
              <a:t>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65792" y="1353312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65792" y="135331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0D1B3E"/>
                </a:solidFill>
                <a:latin typeface="Calibr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5792" y="16642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Spoken
Response</a:t>
            </a:r>
            <a:br/>
            <a:r>
              <a:t>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5792" y="2194560"/>
            <a:ext cx="2039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BBCCDD"/>
                </a:solidFill>
                <a:latin typeface="Calibri"/>
              </a:rPr>
              <a:t>Audio played
in browser
~3–5 sec total RTT</a:t>
            </a:r>
            <a:br/>
            <a:r>
              <a:t>in browser</a:t>
            </a:r>
            <a:br/>
            <a:r>
              <a:t>~3–5 sec total RTT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3273552"/>
            <a:ext cx="11887200" cy="32004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" y="33832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C0392B"/>
                </a:solidFill>
                <a:latin typeface="Calibri"/>
              </a:rPr>
              <a:t>ESCALATION PATH  (Agentic Workflow)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3721608"/>
            <a:ext cx="2148840" cy="11704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3813048"/>
            <a:ext cx="198424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Complex
Issue Detected</a:t>
            </a:r>
            <a:br/>
            <a:r>
              <a:t>Issue Detected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68296" y="4206240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200" b="0" i="0">
                <a:solidFill>
                  <a:srgbClr val="008B5A"/>
                </a:solidFill>
                <a:latin typeface="Calibri"/>
              </a:rPr>
              <a:t>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3721608"/>
            <a:ext cx="2148840" cy="1170432"/>
          </a:xfrm>
          <a:prstGeom prst="rect">
            <a:avLst/>
          </a:prstGeom>
          <a:solidFill>
            <a:srgbClr val="5C3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1760" y="3813048"/>
            <a:ext cx="198424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n8n Webhook
Trigger</a:t>
            </a:r>
            <a:br/>
            <a:r>
              <a:t>Trigger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45736" y="4206240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200" b="0" i="0">
                <a:solidFill>
                  <a:srgbClr val="008B5A"/>
                </a:solidFill>
                <a:latin typeface="Calibri"/>
              </a:rPr>
              <a:t>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3721608"/>
            <a:ext cx="2148840" cy="1170432"/>
          </a:xfrm>
          <a:prstGeom prst="rect">
            <a:avLst/>
          </a:prstGeom>
          <a:solidFill>
            <a:srgbClr val="0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3813048"/>
            <a:ext cx="198424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Mock Ticket
System (:5000)</a:t>
            </a:r>
            <a:br/>
            <a:r>
              <a:t>System (:5000)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23176" y="4206240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200" b="0" i="0">
                <a:solidFill>
                  <a:srgbClr val="008B5A"/>
                </a:solidFill>
                <a:latin typeface="Calibri"/>
              </a:rPr>
              <a:t>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3721608"/>
            <a:ext cx="2148840" cy="1170432"/>
          </a:xfrm>
          <a:prstGeom prst="rect">
            <a:avLst/>
          </a:prstGeom>
          <a:solidFill>
            <a:srgbClr val="007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3813048"/>
            <a:ext cx="198424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360dialog
WhatsApp API</a:t>
            </a:r>
            <a:br/>
            <a:r>
              <a:t>WhatsApp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0616" y="4206240"/>
            <a:ext cx="2011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200" b="0" i="0">
                <a:solidFill>
                  <a:srgbClr val="008B5A"/>
                </a:solidFill>
                <a:latin typeface="Calibri"/>
              </a:rPr>
              <a:t>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92640" y="3721608"/>
            <a:ext cx="2148840" cy="1170432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84080" y="3813048"/>
            <a:ext cx="198424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Supabase
Call Log Update</a:t>
            </a:r>
            <a:br/>
            <a:r>
              <a:t>Call Log Update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" y="5047488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717D8A"/>
                </a:solidFill>
                <a:latin typeface="Calibri"/>
              </a:rPr>
              <a:t>Stack: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5029200"/>
            <a:ext cx="178308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7552" y="5065776"/>
            <a:ext cx="1691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1A202C"/>
                </a:solidFill>
                <a:latin typeface="Calibri"/>
              </a:rPr>
              <a:t>React 18 + Vite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88919" y="5029200"/>
            <a:ext cx="178308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62071" y="5065776"/>
            <a:ext cx="1691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1A202C"/>
                </a:solidFill>
                <a:latin typeface="Calibri"/>
              </a:rPr>
              <a:t>FastAPI + Python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38" y="5029200"/>
            <a:ext cx="178308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36590" y="5065776"/>
            <a:ext cx="1691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1A202C"/>
                </a:solidFill>
                <a:latin typeface="Calibri"/>
              </a:rPr>
              <a:t>ChromaDB (RAG)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37957" y="5029200"/>
            <a:ext cx="178308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11109" y="5065776"/>
            <a:ext cx="1691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1A202C"/>
                </a:solidFill>
                <a:latin typeface="Calibri"/>
              </a:rPr>
              <a:t>Supabase (PostgreSQL)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76" y="5029200"/>
            <a:ext cx="178308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85628" y="5065776"/>
            <a:ext cx="1691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1A202C"/>
                </a:solidFill>
                <a:latin typeface="Calibri"/>
              </a:rPr>
              <a:t>n8n Automation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86995" y="5029200"/>
            <a:ext cx="178308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360147" y="5065776"/>
            <a:ext cx="1691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1A202C"/>
                </a:solidFill>
                <a:latin typeface="Calibri"/>
              </a:rPr>
              <a:t>360dialog WhatsApp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" y="5468112"/>
            <a:ext cx="11795760" cy="27432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5504688"/>
            <a:ext cx="11521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0D1B3E"/>
                </a:solidFill>
                <a:latin typeface="Calibri"/>
              </a:rPr>
              <a:t>GitHub: github.com/nrvm94/sarvam-telecom-bot  ·  Full source code, .env.example, setup guide, architecture 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ROI &amp;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A8C4E0"/>
                </a:solidFill>
                <a:latin typeface="Calibri"/>
              </a:rPr>
              <a:t>A 9-day payback period — at conservative adoption rates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37490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F5A623"/>
                </a:solidFill>
                <a:latin typeface="Calibri"/>
              </a:rPr>
              <a:t>₹0.40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28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cost per AI-handled call
vs ₹28–35 human agent</a:t>
            </a:r>
            <a:br/>
            <a:r>
              <a:t>vs ₹28–35 human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88720"/>
            <a:ext cx="3749039" cy="118872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325880"/>
            <a:ext cx="37490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F5A623"/>
                </a:solidFill>
                <a:latin typeface="Calibri"/>
              </a:rPr>
              <a:t>70×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1828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reduction in
cost per interaction</a:t>
            </a:r>
            <a:br/>
            <a:r>
              <a:t>cost per interaction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8" y="1188720"/>
            <a:ext cx="3749039" cy="1188720"/>
          </a:xfrm>
          <a:prstGeom prst="rect">
            <a:avLst/>
          </a:prstGeom>
          <a:solidFill>
            <a:srgbClr val="0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8" y="1325880"/>
            <a:ext cx="374903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F5A623"/>
                </a:solidFill>
                <a:latin typeface="Calibri"/>
              </a:rPr>
              <a:t>₹745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8" y="18288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projected annual savings
at full deployment</a:t>
            </a:r>
            <a:br/>
            <a:r>
              <a:t>at full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578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D1B3E"/>
                </a:solidFill>
                <a:latin typeface="Calibri"/>
              </a:rPr>
              <a:t>Cost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315468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889504"/>
            <a:ext cx="1920240" cy="32004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2926080"/>
            <a:ext cx="18288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Human 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2889504"/>
            <a:ext cx="1920240" cy="32004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3832" y="2926080"/>
            <a:ext cx="18288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AI Voice Bot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36976"/>
            <a:ext cx="31546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3291840"/>
            <a:ext cx="3063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Cost per interaction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3236976"/>
            <a:ext cx="1920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3291840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₹28–35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3236976"/>
            <a:ext cx="1920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13832" y="3291840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008B5A"/>
                </a:solidFill>
                <a:latin typeface="Calibri"/>
              </a:rPr>
              <a:t>₹0.40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584448"/>
            <a:ext cx="3154680" cy="3291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3639312"/>
            <a:ext cx="3063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Calls handled / day / unit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3584448"/>
            <a:ext cx="1920240" cy="3291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7872" y="3639312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~120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3584448"/>
            <a:ext cx="1920240" cy="3291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13832" y="3639312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008B5A"/>
                </a:solidFill>
                <a:latin typeface="Calibri"/>
              </a:rPr>
              <a:t>Unlimited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931920"/>
            <a:ext cx="31546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986784"/>
            <a:ext cx="3063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Availability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3931920"/>
            <a:ext cx="1920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47872" y="3986784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6 AM – 12 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0680" y="3931920"/>
            <a:ext cx="1920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13832" y="3986784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008B5A"/>
                </a:solidFill>
                <a:latin typeface="Calibri"/>
              </a:rPr>
              <a:t>24 / 7 / 365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279392"/>
            <a:ext cx="3154680" cy="3291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334256"/>
            <a:ext cx="3063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Avg handle 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4279392"/>
            <a:ext cx="1920240" cy="3291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47872" y="4334256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4–6 minutes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4279392"/>
            <a:ext cx="1920240" cy="3291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13832" y="4334256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008B5A"/>
                </a:solidFill>
                <a:latin typeface="Calibri"/>
              </a:rPr>
              <a:t>15–30 seconds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626864"/>
            <a:ext cx="31546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4681728"/>
            <a:ext cx="3063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First call resolution (T1)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0" y="4626864"/>
            <a:ext cx="1920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47872" y="4681728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68%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4626864"/>
            <a:ext cx="19202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3832" y="4681728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008B5A"/>
                </a:solidFill>
                <a:latin typeface="Calibri"/>
              </a:rPr>
              <a:t>84%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974336"/>
            <a:ext cx="3154680" cy="3291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" y="5029200"/>
            <a:ext cx="3063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Language support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0" y="4974336"/>
            <a:ext cx="1920240" cy="3291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47872" y="5029200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1A202C"/>
                </a:solidFill>
                <a:latin typeface="Calibri"/>
              </a:rPr>
              <a:t>Hindi + English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40680" y="4974336"/>
            <a:ext cx="1920240" cy="3291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13832" y="5029200"/>
            <a:ext cx="1828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008B5A"/>
                </a:solidFill>
                <a:latin typeface="Calibri"/>
              </a:rPr>
              <a:t>Hindi, English, Hinglish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35240" y="2578608"/>
            <a:ext cx="4343400" cy="4114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0" y="2651760"/>
            <a:ext cx="4069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08B5A"/>
                </a:solidFill>
                <a:latin typeface="Calibri"/>
              </a:rPr>
              <a:t>Annual Savings Calculation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3017520"/>
            <a:ext cx="4023360" cy="18288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31089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BBCCDD"/>
                </a:solidFill>
                <a:latin typeface="Calibri"/>
              </a:rPr>
              <a:t>Automatable calls / day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310896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F5A623"/>
                </a:solidFill>
                <a:latin typeface="Calibri"/>
              </a:rPr>
              <a:t>741,000  (78% of 950K)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353872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BBCCDD"/>
                </a:solidFill>
                <a:latin typeface="Calibri"/>
              </a:rPr>
              <a:t>Cost saving per call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353872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F5A623"/>
                </a:solidFill>
                <a:latin typeface="Calibri"/>
              </a:rPr>
              <a:t>₹27.60  (₹28 – ₹0.40)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0" y="3968496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BBCCDD"/>
                </a:solidFill>
                <a:latin typeface="Calibri"/>
              </a:rPr>
              <a:t>Daily saving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0" y="3968496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F5A623"/>
                </a:solidFill>
                <a:latin typeface="Calibri"/>
              </a:rPr>
              <a:t>₹2.04 crore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35240" y="4361688"/>
            <a:ext cx="4343400" cy="402336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0" y="4398264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Annual saving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92640" y="4398264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₹745 crore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0" y="482803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BBCCDD"/>
                </a:solidFill>
                <a:latin typeface="Calibri"/>
              </a:rPr>
              <a:t>Impl. cost (Year 1)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92640" y="4828032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F5A623"/>
                </a:solidFill>
                <a:latin typeface="Calibri"/>
              </a:rPr>
              <a:t>₹18 crore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72400" y="52578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BBCCDD"/>
                </a:solidFill>
                <a:latin typeface="Calibri"/>
              </a:rPr>
              <a:t>Net Year-1 saving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92640" y="525780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F5A623"/>
                </a:solidFill>
                <a:latin typeface="Calibri"/>
              </a:rPr>
              <a:t>₹727 crore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35240" y="5650992"/>
            <a:ext cx="4343400" cy="402336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0" y="568756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Payback period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92640" y="568756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~9 days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5559552"/>
            <a:ext cx="11658600" cy="274320"/>
          </a:xfrm>
          <a:prstGeom prst="rect">
            <a:avLst/>
          </a:prstGeom>
          <a:solidFill>
            <a:srgbClr val="E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5596128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0D1B3E"/>
                </a:solidFill>
                <a:latin typeface="Calibri"/>
              </a:rPr>
              <a:t>Conservative scenario (10% adoption): ₹74.5 crore / year.  Every 1% reduction in churn from higher NPS = ₹85 crore ARR retained.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Limitations &amp; 90-Day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0" i="1">
                <a:solidFill>
                  <a:srgbClr val="A8C4E0"/>
                </a:solidFill>
                <a:latin typeface="Calibri"/>
              </a:rPr>
              <a:t>Current PoC demonstrates the core stack — production readiness is a 90-day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D1B3E"/>
                </a:solidFill>
                <a:latin typeface="Calibri"/>
              </a:rPr>
              <a:t>Current PoC Gaps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81328"/>
            <a:ext cx="292608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17904"/>
            <a:ext cx="28346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481328"/>
            <a:ext cx="86868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1517904"/>
            <a:ext cx="7772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481328"/>
            <a:ext cx="365760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1517904"/>
            <a:ext cx="356616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28800"/>
            <a:ext cx="2926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892808"/>
            <a:ext cx="2816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Telephony / SIP integration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828800"/>
            <a:ext cx="868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72" y="1892808"/>
            <a:ext cx="75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C0392B"/>
                </a:solidFill>
                <a:latin typeface="Calibri"/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828800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33672" y="1892808"/>
            <a:ext cx="3547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Integrate Exotel or Tata Tele SIP trunk — Phase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31136"/>
            <a:ext cx="292608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295144"/>
            <a:ext cx="2816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Live CRM integration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231136"/>
            <a:ext cx="86868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9272" y="2295144"/>
            <a:ext cx="75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C0392B"/>
                </a:solidFill>
                <a:latin typeface="Calibri"/>
              </a:rPr>
              <a:t>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231136"/>
            <a:ext cx="365760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3672" y="2295144"/>
            <a:ext cx="3547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Connect to Airtel Salesforce; enable personalised responses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633472"/>
            <a:ext cx="2926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697480"/>
            <a:ext cx="2816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OTP customer authentication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2633472"/>
            <a:ext cx="868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9272" y="2697480"/>
            <a:ext cx="75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C0392B"/>
                </a:solidFill>
                <a:latin typeface="Calibri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2633472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3672" y="2697480"/>
            <a:ext cx="3547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Add Airtel OTP-verify API before exposing account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035808"/>
            <a:ext cx="292608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099816"/>
            <a:ext cx="2816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Knowledge base scale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3035808"/>
            <a:ext cx="86868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9272" y="3099816"/>
            <a:ext cx="75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E67E00"/>
                </a:solidFill>
                <a:latin typeface="Calibri"/>
              </a:rPr>
              <a:t>Medium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3035808"/>
            <a:ext cx="365760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33672" y="3099816"/>
            <a:ext cx="3547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Ingest full Airtel policy corpus (5,000+ docs) via batch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438144"/>
            <a:ext cx="2926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3502152"/>
            <a:ext cx="2816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Mid-session language switch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3438144"/>
            <a:ext cx="868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9272" y="3502152"/>
            <a:ext cx="75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008B5A"/>
                </a:solidFill>
                <a:latin typeface="Calibri"/>
              </a:rPr>
              <a:t>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3438144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33672" y="3502152"/>
            <a:ext cx="35478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1A202C"/>
                </a:solidFill>
                <a:latin typeface="Calibri"/>
              </a:rPr>
              <a:t>Enable seamless Hindi ↔ English pivot within one call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117043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D1B3E"/>
                </a:solidFill>
                <a:latin typeface="Calibri"/>
              </a:rPr>
              <a:t>90-Day Enterprise Rollout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18120" y="1481328"/>
            <a:ext cx="4160520" cy="1536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18120" y="1481328"/>
            <a:ext cx="960120" cy="15361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0" y="1618488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Days 1–30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89280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BBCCDD"/>
                </a:solidFill>
                <a:latin typeface="Calibri"/>
              </a:rPr>
              <a:t>Foundation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87968" y="1591056"/>
            <a:ext cx="29992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00">
                <a:solidFill>
                  <a:srgbClr val="1A202C"/>
                </a:solidFill>
                <a:latin typeface="Calibri"/>
              </a:rPr>
              <a:t>• Deploy on Airtel cloud (AWS Mumbai / Azure India)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202C"/>
                </a:solidFill>
                <a:latin typeface="Calibri"/>
              </a:rPr>
              <a:t>• Ingest full Airtel KB and connect subscriber database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202C"/>
                </a:solidFill>
                <a:latin typeface="Calibri"/>
              </a:rPr>
              <a:t>• Set up monitoring: call success rate, escalation rate, latency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3108960"/>
            <a:ext cx="4160520" cy="1536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18120" y="3108960"/>
            <a:ext cx="960120" cy="1536192"/>
          </a:xfrm>
          <a:prstGeom prst="rect">
            <a:avLst/>
          </a:prstGeom>
          <a:solidFill>
            <a:srgbClr val="00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3246120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Days 31–60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3520440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BBCCDD"/>
                </a:solidFill>
                <a:latin typeface="Calibri"/>
              </a:rPr>
              <a:t>Telephony + Auth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87968" y="3218688"/>
            <a:ext cx="29992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00">
                <a:solidFill>
                  <a:srgbClr val="1A202C"/>
                </a:solidFill>
                <a:latin typeface="Calibri"/>
              </a:rPr>
              <a:t>• Integrate IVR system via SIP / WebRTC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202C"/>
                </a:solidFill>
                <a:latin typeface="Calibri"/>
              </a:rPr>
              <a:t>• Add OTP-based caller authentication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202C"/>
                </a:solidFill>
                <a:latin typeface="Calibri"/>
              </a:rPr>
              <a:t>• A/B test: AI bot vs legacy IVR on 5% of traffic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4736592"/>
            <a:ext cx="4160520" cy="1536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18120" y="4736592"/>
            <a:ext cx="960120" cy="1536192"/>
          </a:xfrm>
          <a:prstGeom prst="rect">
            <a:avLst/>
          </a:prstGeom>
          <a:solidFill>
            <a:srgbClr val="0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63840" y="4873752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Days 61–90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5148072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850" b="0" i="0">
                <a:solidFill>
                  <a:srgbClr val="BBCCDD"/>
                </a:solidFill>
                <a:latin typeface="Calibri"/>
              </a:rPr>
              <a:t>Scale &amp; Optimise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87968" y="4846320"/>
            <a:ext cx="29992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00">
                <a:solidFill>
                  <a:srgbClr val="1A202C"/>
                </a:solidFill>
                <a:latin typeface="Calibri"/>
              </a:rPr>
              <a:t>• Scale to 20% of inbound call volume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202C"/>
                </a:solidFill>
                <a:latin typeface="Calibri"/>
              </a:rPr>
              <a:t>• Add regional language support (Tamil, Telugu, Bengali)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A202C"/>
                </a:solidFill>
                <a:latin typeface="Calibri"/>
              </a:rPr>
              <a:t>• Board presentation: NPS delta, cost savings, escalation rate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556248"/>
            <a:ext cx="117344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950" b="0" i="0">
                <a:solidFill>
                  <a:srgbClr val="8AA8C8"/>
                </a:solidFill>
                <a:latin typeface="Calibri"/>
              </a:rPr>
              <a:t>Built by Neerav Mahadevan  ·  github.com/nrvm94/sarvam-telecom-bot  ·  June 2026  ·  Sarvam AI Pre-Sales Assignment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